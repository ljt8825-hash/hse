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media" Target="../media/media2.mp4"/><Relationship Id="rId4" Type="http://schemas.openxmlformats.org/officeDocument/2006/relationships/video" Target="../media/media2.mp4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microsoft.com/office/2007/relationships/media" Target="../media/media3.mp4"/><Relationship Id="rId2" Type="http://schemas.openxmlformats.org/officeDocument/2006/relationships/video" Target="../media/media3.mp4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microsoft.com/office/2007/relationships/media" Target="../media/media4.mp4"/><Relationship Id="rId3" Type="http://schemas.openxmlformats.org/officeDocument/2006/relationships/video" Target="../media/media4.mp4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microsoft.com/office/2007/relationships/media" Target="../media/media5.mp4"/><Relationship Id="rId1" Type="http://schemas.openxmlformats.org/officeDocument/2006/relationships/video" Target="../media/media5.mp4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695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"/>
            <a:ext cx="12191695" cy="64008"/>
          </a:xfrm>
          <a:prstGeom prst="rect">
            <a:avLst/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CC3FF"/>
                </a:solidFill>
                <a:latin typeface="微软雅黑" panose="020B0503020204020204" charset="-122"/>
                <a:ea typeface="微软雅黑" panose="020B0503020204020204" charset="-122"/>
              </a:rPr>
              <a:t>北控城市资源集团东部区域 · AI 应用案例报送</a:t>
            </a:r>
            <a:endParaRPr sz="1300" b="1" i="0">
              <a:solidFill>
                <a:srgbClr val="9CC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42416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月度安全履职考核门户</a:t>
            </a:r>
            <a:endParaRPr sz="4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CC3FF"/>
                </a:solidFill>
                <a:latin typeface="微软雅黑" panose="020B0503020204020204" charset="-122"/>
                <a:ea typeface="微软雅黑" panose="020B0503020204020204" charset="-122"/>
              </a:rPr>
              <a:t>手机端 H5 现场采集 + PC 门户自动评分</a:t>
            </a:r>
            <a:endParaRPr sz="2000" b="1" i="0">
              <a:solidFill>
                <a:srgbClr val="9CC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4241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6E4FF"/>
                </a:solidFill>
                <a:latin typeface="微软雅黑" panose="020B0503020204020204" charset="-122"/>
                <a:ea typeface="微软雅黑" panose="020B0503020204020204" charset="-122"/>
              </a:rPr>
              <a:t>培训 · 专项活动 · 驾驶员 · 转运站 · 三违 · 网格巡查 —— 六条线月度考核一体化</a:t>
            </a:r>
            <a:endParaRPr sz="1400" b="0" i="0">
              <a:solidFill>
                <a:srgbClr val="D6E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2A3F68"/>
          </a:solidFill>
          <a:ln>
            <a:solidFill>
              <a:srgbClr val="4A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培训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304288" y="4297680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2A3F68"/>
          </a:solidFill>
          <a:ln>
            <a:solidFill>
              <a:srgbClr val="4A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专项活动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94176" y="4297680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2A3F68"/>
          </a:solidFill>
          <a:ln>
            <a:solidFill>
              <a:srgbClr val="4A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驾驶员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84064" y="4297680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2A3F68"/>
          </a:solidFill>
          <a:ln>
            <a:solidFill>
              <a:srgbClr val="4A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转运站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73952" y="4297680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2A3F68"/>
          </a:solidFill>
          <a:ln>
            <a:solidFill>
              <a:srgbClr val="4A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三违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63840" y="4297680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2A3F68"/>
          </a:solidFill>
          <a:ln>
            <a:solidFill>
              <a:srgbClr val="4A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网格巡查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4241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提报项目：宁津项目　|　提报人：刘金涛　|　2026 年 10 月</a:t>
            </a:r>
            <a:endParaRPr sz="13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CC3FF"/>
                </a:solidFill>
                <a:latin typeface="微软雅黑" panose="020B0503020204020204" charset="-122"/>
                <a:ea typeface="微软雅黑" panose="020B0503020204020204" charset="-122"/>
              </a:rPr>
              <a:t>案例名称（场景+动作）：月度安全履职考核门户（手机端 H5 现场采集 + PC 门户自动评分）</a:t>
            </a:r>
            <a:endParaRPr sz="1050" b="0" i="0">
              <a:solidFill>
                <a:srgbClr val="9CC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ILabel"/>
          <p:cNvSpPr txBox="1"/>
          <p:nvPr/>
        </p:nvSpPr>
        <p:spPr>
          <a:xfrm>
            <a:off x="961136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CASE OVERVIEW · 案例总览</a:t>
            </a:r>
            <a:endParaRPr sz="11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五项报送内容一页速览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2121408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48132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2121408"/>
            <a:ext cx="17922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案例名称</a:t>
            </a:r>
            <a:endParaRPr sz="14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7512" y="2542032"/>
            <a:ext cx="640080" cy="27432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697480"/>
            <a:ext cx="1792224" cy="2194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月度安全履职考核门户（手机端 H5 现场采集 + PC 门户自动评分）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场景 + 动作，聚焦六条线月度考核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61487" y="1298448"/>
            <a:ext cx="2121408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79" y="148132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6079" y="2121408"/>
            <a:ext cx="17922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业务场景</a:t>
            </a:r>
            <a:endParaRPr sz="14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26079" y="2542032"/>
            <a:ext cx="640080" cy="27432"/>
          </a:xfrm>
          <a:prstGeom prst="rect">
            <a:avLst/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2697480"/>
            <a:ext cx="1792224" cy="2194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6 条线台账散落多菜单、现场靠微信群流转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以前怎么干 / 现在怎么干 全流程对照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0055" y="1298448"/>
            <a:ext cx="2121408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84647" y="148132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84647" y="2121408"/>
            <a:ext cx="17922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建设类型</a:t>
            </a:r>
            <a:endParaRPr sz="14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84647" y="2542032"/>
            <a:ext cx="640080" cy="27432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7" y="2697480"/>
            <a:ext cx="1792224" cy="2194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企业技能（Skill）+ 数字员工（Agent）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规则库 / 评分引擎 / AI 识图 + 门户编排 / H5 闭环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278623" y="1298448"/>
            <a:ext cx="2121408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3215" y="148132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43215" y="2121408"/>
            <a:ext cx="17922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量化目标</a:t>
            </a:r>
            <a:endParaRPr sz="14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43215" y="2542032"/>
            <a:ext cx="640080" cy="27432"/>
          </a:xfrm>
          <a:prstGeom prst="rect">
            <a:avLst/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3215" y="2697480"/>
            <a:ext cx="1792224" cy="2194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节省 30~75 人·小时/月（取中 50）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效率提升约 60~80% · 成本节约约 2~5 万元/年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537192" y="1298448"/>
            <a:ext cx="2121408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01784" y="148132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01784" y="2121408"/>
            <a:ext cx="17922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复用价值</a:t>
            </a:r>
            <a:endParaRPr sz="14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701784" y="2542032"/>
            <a:ext cx="640080" cy="2743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1784" y="2697480"/>
            <a:ext cx="1792224" cy="2194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跨岗位 · 跨条线 · 跨组织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规则与台账结构可整体复制推广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2920" y="5285232"/>
            <a:ext cx="11185855" cy="93268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376672"/>
            <a:ext cx="201168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业务范围</a:t>
            </a:r>
            <a:endParaRPr sz="12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六条线月度考核</a:t>
            </a:r>
            <a:endParaRPr sz="90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606039" y="5541264"/>
            <a:ext cx="1481328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培训（HSE 教育培训）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160520" y="5541264"/>
            <a:ext cx="1481328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FAA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各种专项活动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15000" y="5541264"/>
            <a:ext cx="1481328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驾驶员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269480" y="5541264"/>
            <a:ext cx="1481328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转运站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823960" y="5541264"/>
            <a:ext cx="1481328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F5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三违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378440" y="5541264"/>
            <a:ext cx="1481328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网格巡查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02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222D"/>
                </a:solidFill>
                <a:latin typeface="微软雅黑" panose="020B0503020204020204" charset="-122"/>
                <a:ea typeface="微软雅黑" panose="020B0503020204020204" charset="-122"/>
              </a:rPr>
              <a:t>BUSINESS SCENARIO · 业务场景（一）</a:t>
            </a:r>
            <a:endParaRPr sz="1100" b="1" i="0">
              <a:solidFill>
                <a:srgbClr val="F522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以前怎么干：微信群照片 + 逐菜单翻台账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5440680" cy="3063240"/>
          </a:xfrm>
          <a:prstGeom prst="roundRect">
            <a:avLst>
              <a:gd name="adj" fmla="val 4500"/>
            </a:avLst>
          </a:prstGeom>
          <a:solidFill>
            <a:srgbClr val="FDF2F2"/>
          </a:solidFill>
          <a:ln w="12700">
            <a:solidFill>
              <a:srgbClr val="FC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现场检查 · 靠微信群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975104"/>
            <a:ext cx="5074920" cy="2286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各网格长将检查的图片发到微信群，每天约 70 张照片；</a:t>
            </a: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照片无定位、无行为分类、无整改前后对照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管理人员每日在群内逐张查看、检查，检查出的问题再返回人员整改。</a:t>
            </a:r>
            <a:endParaRPr sz="11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问题归属靠人工认领，整改结果无法核验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台账事后补录，数据不进考核系统，评分无据可依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298448"/>
            <a:ext cx="5440680" cy="3063240"/>
          </a:xfrm>
          <a:prstGeom prst="roundRect">
            <a:avLst>
              <a:gd name="adj" fmla="val 4500"/>
            </a:avLst>
          </a:prstGeom>
          <a:solidFill>
            <a:srgbClr val="FDF2F2"/>
          </a:solidFill>
          <a:ln w="12700">
            <a:solidFill>
              <a:srgbClr val="FC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481328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月度考核 · 靠翻台账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5080" y="1975104"/>
            <a:ext cx="5074920" cy="2286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培训 / 专项活动 / 驾驶员 / 转运站 / 三违 / 网格巡查各进各的菜单翻台账 →</a:t>
            </a: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每周期以小时计，口径因人而异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Excel 手工汇总 → 人工判断扣分对象归属与分值。</a:t>
            </a:r>
            <a:endParaRPr sz="11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结果反馈慢，争议难追溯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考核依据滞后、不统一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4617720"/>
            <a:ext cx="2743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222D"/>
                </a:solidFill>
                <a:latin typeface="微软雅黑" panose="020B0503020204020204" charset="-122"/>
                <a:ea typeface="微软雅黑" panose="020B0503020204020204" charset="-122"/>
              </a:rPr>
              <a:t>六大痛点</a:t>
            </a:r>
            <a:endParaRPr sz="1200" b="1" i="0">
              <a:solidFill>
                <a:srgbClr val="F522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498348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5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222D"/>
                </a:solidFill>
                <a:latin typeface="微软雅黑" panose="020B0503020204020204" charset="-122"/>
                <a:ea typeface="微软雅黑" panose="020B0503020204020204" charset="-122"/>
              </a:rPr>
              <a:t>无定位</a:t>
            </a:r>
            <a:endParaRPr sz="1100" b="1" i="0">
              <a:solidFill>
                <a:srgbClr val="F522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59152" y="498348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5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222D"/>
                </a:solidFill>
                <a:latin typeface="微软雅黑" panose="020B0503020204020204" charset="-122"/>
                <a:ea typeface="微软雅黑" panose="020B0503020204020204" charset="-122"/>
              </a:rPr>
              <a:t>无行为分类</a:t>
            </a:r>
            <a:endParaRPr sz="1100" b="1" i="0">
              <a:solidFill>
                <a:srgbClr val="F522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15383" y="498348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5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222D"/>
                </a:solidFill>
                <a:latin typeface="微软雅黑" panose="020B0503020204020204" charset="-122"/>
                <a:ea typeface="微软雅黑" panose="020B0503020204020204" charset="-122"/>
              </a:rPr>
              <a:t>无整改对照</a:t>
            </a:r>
            <a:endParaRPr sz="1100" b="1" i="0">
              <a:solidFill>
                <a:srgbClr val="F522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71615" y="498348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5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222D"/>
                </a:solidFill>
                <a:latin typeface="微软雅黑" panose="020B0503020204020204" charset="-122"/>
                <a:ea typeface="微软雅黑" panose="020B0503020204020204" charset="-122"/>
              </a:rPr>
              <a:t>归属靠认领</a:t>
            </a:r>
            <a:endParaRPr sz="1100" b="1" i="0">
              <a:solidFill>
                <a:srgbClr val="F522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27847" y="498348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5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222D"/>
                </a:solidFill>
                <a:latin typeface="微软雅黑" panose="020B0503020204020204" charset="-122"/>
                <a:ea typeface="微软雅黑" panose="020B0503020204020204" charset="-122"/>
              </a:rPr>
              <a:t>结果难核验</a:t>
            </a:r>
            <a:endParaRPr sz="1100" b="1" i="0">
              <a:solidFill>
                <a:srgbClr val="F522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784079" y="4983480"/>
            <a:ext cx="17373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F5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222D"/>
                </a:solidFill>
                <a:latin typeface="微软雅黑" panose="020B0503020204020204" charset="-122"/>
                <a:ea typeface="微软雅黑" panose="020B0503020204020204" charset="-122"/>
              </a:rPr>
              <a:t>数据滞后</a:t>
            </a:r>
            <a:endParaRPr sz="1100" b="1" i="0">
              <a:solidFill>
                <a:srgbClr val="F522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11185855" cy="65836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705856"/>
            <a:ext cx="1078351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实测锚点：原微信群每天约 70 张照片 × 1~2 分钟/张逐张查看 ≈ 每月 25~50 人工时耗在“看照片”上；月度取数核对再叠加 8~25 人工时。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03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BUSINESS SCENARIO · 业务场景（二）</a:t>
            </a:r>
            <a:endParaRPr sz="11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现在怎么干：H5 现场闭环 + PC 门户月度闭环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554480" cy="1051560"/>
          </a:xfrm>
          <a:prstGeom prst="roundRect">
            <a:avLst>
              <a:gd name="adj" fmla="val 12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H5
现场闭环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40280" y="1325880"/>
            <a:ext cx="120700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GPS
自动定位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47288" y="1572768"/>
            <a:ext cx="201168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1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48456" y="1325880"/>
            <a:ext cx="120700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现场拍照
取证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55464" y="1572768"/>
            <a:ext cx="201168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1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56632" y="1325880"/>
            <a:ext cx="120700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三违行为
标准库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63640" y="1572768"/>
            <a:ext cx="201168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1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64808" y="1325880"/>
            <a:ext cx="120700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确认
涉及人员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71816" y="1572768"/>
            <a:ext cx="201168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1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72983" y="1325880"/>
            <a:ext cx="120700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现场整改
拍后照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79992" y="1572768"/>
            <a:ext cx="201168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1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281159" y="1325880"/>
            <a:ext cx="120700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稍后整改
派任务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488167" y="1572768"/>
            <a:ext cx="201168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1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689335" y="1325880"/>
            <a:ext cx="1207008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结构化
台账归集</a:t>
            </a:r>
            <a:endParaRPr sz="9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2606040"/>
            <a:ext cx="1554480" cy="1051560"/>
          </a:xfrm>
          <a:prstGeom prst="roundRect">
            <a:avLst>
              <a:gd name="adj" fmla="val 12000"/>
            </a:avLst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PC 门户
月度闭环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40280" y="2606040"/>
            <a:ext cx="1078992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选考核
周期</a:t>
            </a:r>
            <a:endParaRPr sz="9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19272" y="2852928"/>
            <a:ext cx="14630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0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483864" y="2606040"/>
            <a:ext cx="1078992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岗位 Tab
切口径</a:t>
            </a:r>
            <a:endParaRPr sz="9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62856" y="2852928"/>
            <a:ext cx="14630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0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727448" y="2606040"/>
            <a:ext cx="1078992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类别扣分
上限卡片</a:t>
            </a:r>
            <a:endParaRPr sz="9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06440" y="2852928"/>
            <a:ext cx="14630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0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71032" y="2606040"/>
            <a:ext cx="1078992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9 个台账
镜像</a:t>
            </a:r>
            <a:endParaRPr sz="9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50024" y="2852928"/>
            <a:ext cx="14630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0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214616" y="2606040"/>
            <a:ext cx="1078992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自动
评分</a:t>
            </a:r>
            <a:endParaRPr sz="9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93608" y="2852928"/>
            <a:ext cx="14630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0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458200" y="2606040"/>
            <a:ext cx="1078992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扣分
审核</a:t>
            </a:r>
            <a:endParaRPr sz="9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537192" y="2852928"/>
            <a:ext cx="14630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0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701784" y="2606040"/>
            <a:ext cx="1078992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结果
冻结</a:t>
            </a:r>
            <a:endParaRPr sz="9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780776" y="2852928"/>
            <a:ext cx="14630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0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0945368" y="2606040"/>
            <a:ext cx="1078992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Excel
导入导出</a:t>
            </a:r>
            <a:endParaRPr sz="9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02920" y="3977639"/>
            <a:ext cx="3639312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977639"/>
            <a:ext cx="64008" cy="1234440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4096512"/>
            <a:ext cx="32918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数据同源</a:t>
            </a:r>
            <a:endParaRPr sz="12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9 个台账镜像与各模块原页面双向联动，杜绝双口径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279392" y="3977639"/>
            <a:ext cx="3639312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3977639"/>
            <a:ext cx="64008" cy="1234440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59" y="4096512"/>
            <a:ext cx="32918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规则驱动</a:t>
            </a:r>
            <a:endParaRPr sz="12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扣分规则库 active 13 条自动取数传导扣分（单一事实源）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055863" y="3977639"/>
            <a:ext cx="3639312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55863" y="3977639"/>
            <a:ext cx="64008" cy="1234440"/>
          </a:xfrm>
          <a:prstGeom prst="rect">
            <a:avLst/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57031" y="4096512"/>
            <a:ext cx="32918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人机分工</a:t>
            </a:r>
            <a:endParaRPr sz="12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自动评分引擎算分，人工只做扣分审核与结果冻结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02920" y="5440680"/>
            <a:ext cx="11185855" cy="84124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5532120"/>
            <a:ext cx="10783519" cy="6766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适用环节：现场数据采集闭环 + 月度考核全流程（取数、评分、审核、冻结、报表）。月度全流程由 2~3 个工作日压缩到 0.5~1 个工作日，效率提升约 60~80%。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04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MODULE 1 · 培训管理（HSE 教育培训）</a:t>
            </a:r>
            <a:endParaRPr sz="11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以前怎么干 / 现在怎么干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78627" cy="2286000"/>
          </a:xfrm>
          <a:prstGeom prst="roundRect">
            <a:avLst>
              <a:gd name="adj" fmla="val 4500"/>
            </a:avLst>
          </a:prstGeom>
          <a:solidFill>
            <a:srgbClr val="FDF2F2"/>
          </a:solidFill>
          <a:ln w="12700">
            <a:solidFill>
              <a:srgbClr val="FC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426463"/>
            <a:ext cx="1325880" cy="310896"/>
          </a:xfrm>
          <a:prstGeom prst="roundRect">
            <a:avLst>
              <a:gd name="adj" fmla="val 35000"/>
            </a:avLst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以前怎么干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1847088"/>
            <a:ext cx="5149443" cy="1572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纸质签到，Excel 逐人手工汇总月度培训记录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「应培训 / 实际参训 / 缺少人员 / 资料不完整 / 考核分数」五类口径人工核对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签到表、试卷、照片归档分散，月度考核取数二次录入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0147" y="1280160"/>
            <a:ext cx="5478627" cy="2286000"/>
          </a:xfrm>
          <a:prstGeom prst="roundRect">
            <a:avLst>
              <a:gd name="adj" fmla="val 4500"/>
            </a:avLst>
          </a:prstGeom>
          <a:solidFill>
            <a:srgbClr val="F1FAEC"/>
          </a:solidFill>
          <a:ln w="12700">
            <a:solidFill>
              <a:srgbClr val="D3E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4739" y="1426463"/>
            <a:ext cx="1325880" cy="310896"/>
          </a:xfrm>
          <a:prstGeom prst="roundRect">
            <a:avLst>
              <a:gd name="adj" fmla="val 35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现在怎么干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74739" y="1847088"/>
            <a:ext cx="5149443" cy="1572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培训计划 / 培训记录 / 证书管理全线上，按人月度汇总五项口径一目了然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导入月度台账（AI 识图）：扫签到表、培训资料自动生成台账，图片与 PDF 均可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模板下载 / 导入导出 / 批量编辑标准化，月度考核直接同源取数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66928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raining_records_2026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468" y="3794760"/>
            <a:ext cx="2518182" cy="251460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502920" y="6327648"/>
            <a:ext cx="566928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培训记录按人月度汇总 · 2026-08 真实数据（10 人）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05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VIDSLOT_P5_MEDIA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0" y="3794760"/>
            <a:ext cx="4782185" cy="251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MODULE 2 · 三违 + 网格巡查（手机端 H5 现场采集）</a:t>
            </a:r>
            <a:endParaRPr sz="11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以前怎么干 / 现在怎么干 —— H5 拍照 → 飞书多维表格 → 三违 / 网格台账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78627" cy="2286000"/>
          </a:xfrm>
          <a:prstGeom prst="roundRect">
            <a:avLst>
              <a:gd name="adj" fmla="val 4500"/>
            </a:avLst>
          </a:prstGeom>
          <a:solidFill>
            <a:srgbClr val="FDF2F2"/>
          </a:solidFill>
          <a:ln w="12700">
            <a:solidFill>
              <a:srgbClr val="FC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426463"/>
            <a:ext cx="1325880" cy="310896"/>
          </a:xfrm>
          <a:prstGeom prst="roundRect">
            <a:avLst>
              <a:gd name="adj" fmla="val 35000"/>
            </a:avLst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以前怎么干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1847088"/>
            <a:ext cx="5149443" cy="1572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网格长将检查图片发微信群，每天约 70 张照片，问题人工认领归属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三违整改无法核验；网格巡查纸质记录、事后补录，台账不进考核系统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扣分对象与分值人工判断，口径因人而异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0147" y="1280160"/>
            <a:ext cx="5478627" cy="2286000"/>
          </a:xfrm>
          <a:prstGeom prst="roundRect">
            <a:avLst>
              <a:gd name="adj" fmla="val 4500"/>
            </a:avLst>
          </a:prstGeom>
          <a:solidFill>
            <a:srgbClr val="F1FAEC"/>
          </a:solidFill>
          <a:ln w="12700">
            <a:solidFill>
              <a:srgbClr val="D3E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4739" y="1426463"/>
            <a:ext cx="1325880" cy="310896"/>
          </a:xfrm>
          <a:prstGeom prst="roundRect">
            <a:avLst>
              <a:gd name="adj" fmla="val 35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现在怎么干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74739" y="1847088"/>
            <a:ext cx="5149443" cy="1572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H5 现场即采即闭环：GPS→拍照→三违行为标准库→确认人员→整改闭环，记录直接写入飞书多维表格主台账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三违候选（AI 出候选、人工确认）→ 记录 → 分析 → 台账 → 管理考核；未按时整改自动扣分（责任网格长优先、直接上级兜底，1 分/起）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巡查管理 / 台账 / 待归属 / 已归属四页闭环，未巡查自动扣分，台账当月数千条可筛可导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137160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740" y="3794760"/>
            <a:ext cx="1161959" cy="251460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502920" y="6327648"/>
            <a:ext cx="13716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H5 工作台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011680" y="3794760"/>
            <a:ext cx="301752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iolation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48" y="3794760"/>
            <a:ext cx="2518182" cy="2514600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2011680" y="6327648"/>
            <a:ext cx="301752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三违管理考核 · 2026-10 真实数据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66359" y="3794760"/>
            <a:ext cx="301752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rid_led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028" y="3794760"/>
            <a:ext cx="2518182" cy="2514600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5166359" y="6327648"/>
            <a:ext cx="301752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网格巡查台账 · 2026-09 共 3228 条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06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VIDSLOT_P6_MEDIA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21040" y="3794760"/>
            <a:ext cx="3364865" cy="251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MODULE 3 · 驾驶员管理</a:t>
            </a:r>
            <a:endParaRPr sz="11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以前怎么干 / 现在怎么干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78627" cy="2286000"/>
          </a:xfrm>
          <a:prstGeom prst="roundRect">
            <a:avLst>
              <a:gd name="adj" fmla="val 4500"/>
            </a:avLst>
          </a:prstGeom>
          <a:solidFill>
            <a:srgbClr val="FDF2F2"/>
          </a:solidFill>
          <a:ln w="12700">
            <a:solidFill>
              <a:srgbClr val="FC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426463"/>
            <a:ext cx="1325880" cy="310896"/>
          </a:xfrm>
          <a:prstGeom prst="roundRect">
            <a:avLst>
              <a:gd name="adj" fmla="val 35000"/>
            </a:avLst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以前怎么干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1847088"/>
            <a:ext cx="5149443" cy="1572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三检表（发车前检查）完成情况手工汇总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违章线下登记，月终人工评等级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数据滞后、易遗漏、难追溯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0147" y="1280160"/>
            <a:ext cx="5478627" cy="2286000"/>
          </a:xfrm>
          <a:prstGeom prst="roundRect">
            <a:avLst>
              <a:gd name="adj" fmla="val 4500"/>
            </a:avLst>
          </a:prstGeom>
          <a:solidFill>
            <a:srgbClr val="F1FAEC"/>
          </a:solidFill>
          <a:ln w="12700">
            <a:solidFill>
              <a:srgbClr val="D3E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4739" y="1426463"/>
            <a:ext cx="1325880" cy="310896"/>
          </a:xfrm>
          <a:prstGeom prst="roundRect">
            <a:avLst>
              <a:gd name="adj" fmla="val 35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现在怎么干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74739" y="1847088"/>
            <a:ext cx="5149443" cy="1572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驾驶员考核 / 违章 / 月度考核三页联动，「同步花名册人员」一键生成考核对象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三检表按人逐月归集，等级自动汇总，扣分悬浮明细逐笔下钻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下载模板 / 导入 / 导出标准化，portal 镜像与工作台同源生效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66928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iver_monthl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468" y="3794760"/>
            <a:ext cx="2518182" cy="251460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502920" y="6327648"/>
            <a:ext cx="566928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驾驶员月度考核 · 2026-10 周期真实数据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07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VIDSLOT_P7_MEDIA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0" y="3794760"/>
            <a:ext cx="4782185" cy="251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MODULE 4 · 月度安全履职考核 · 门户</a:t>
            </a:r>
            <a:endParaRPr sz="11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以前怎么干 / 现在怎么干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78627" cy="2286000"/>
          </a:xfrm>
          <a:prstGeom prst="roundRect">
            <a:avLst>
              <a:gd name="adj" fmla="val 4500"/>
            </a:avLst>
          </a:prstGeom>
          <a:solidFill>
            <a:srgbClr val="FDF2F2"/>
          </a:solidFill>
          <a:ln w="12700">
            <a:solidFill>
              <a:srgbClr val="FC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426463"/>
            <a:ext cx="1325880" cy="310896"/>
          </a:xfrm>
          <a:prstGeom prst="roundRect">
            <a:avLst>
              <a:gd name="adj" fmla="val 35000"/>
            </a:avLst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以前怎么干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1847088"/>
            <a:ext cx="5149443" cy="1572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6 条线各进各的菜单翻台账取数，Excel 手工汇总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人工判断扣分对象归属与分值，每周期以小时计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结果反馈慢，口径不统一、争议难追溯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0147" y="1280160"/>
            <a:ext cx="5478627" cy="2286000"/>
          </a:xfrm>
          <a:prstGeom prst="roundRect">
            <a:avLst>
              <a:gd name="adj" fmla="val 4500"/>
            </a:avLst>
          </a:prstGeom>
          <a:solidFill>
            <a:srgbClr val="F1FAEC"/>
          </a:solidFill>
          <a:ln w="12700">
            <a:solidFill>
              <a:srgbClr val="D3E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4739" y="1426463"/>
            <a:ext cx="1325880" cy="310896"/>
          </a:xfrm>
          <a:prstGeom prst="roundRect">
            <a:avLst>
              <a:gd name="adj" fmla="val 35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现在怎么干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74739" y="1847088"/>
            <a:ext cx="5149443" cy="1572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门户选周期 → 岗位 Tab（经理 / 管理员）→ 类别扣分上限卡片 → 9 台账镜像同源联动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扣分规则库 active 13 条自动传导扣分（含专项活动未开展），人工只做审核与冻结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转运站台账导入 / 续月直接进考核；专项活动台帐自动识别活动列、未开展项×分值扣分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379476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门户-周期与类别卡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784" y="3794760"/>
            <a:ext cx="2971031" cy="251460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502920" y="6327648"/>
            <a:ext cx="379476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月度考核门户 · 2026 年 10 月周期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80559" y="3794760"/>
            <a:ext cx="379476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6-自动评分-评分结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424" y="3794760"/>
            <a:ext cx="2971031" cy="2514600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4480559" y="6327648"/>
            <a:ext cx="379476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自动评分 · 13 条真实评分结果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08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VIDSLOT_P8_MEDIA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458200" y="3794760"/>
            <a:ext cx="3639185" cy="251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AD14"/>
                </a:solidFill>
                <a:latin typeface="微软雅黑" panose="020B0503020204020204" charset="-122"/>
                <a:ea typeface="微软雅黑" panose="020B0503020204020204" charset="-122"/>
              </a:rPr>
              <a:t>BUILD TYPE · 建设类型</a:t>
            </a:r>
            <a:endParaRPr sz="1100" b="1" i="0">
              <a:solidFill>
                <a:srgbClr val="FAAD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企业技能（Skill）+ 数字员工（Agent）结合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11185855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" y="1435607"/>
            <a:ext cx="1143000" cy="384048"/>
          </a:xfrm>
          <a:prstGeom prst="roundRect">
            <a:avLst>
              <a:gd name="adj" fmla="val 30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企业技能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20240" y="1389888"/>
            <a:ext cx="49377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扣分规则库（单一事实源，含类别扣分上限）</a:t>
            </a:r>
            <a:endParaRPr sz="11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0" y="1389888"/>
            <a:ext cx="5074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hse-assessment-rule.js 三表结构 + 类别上限表（类别+岗位双键）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048255"/>
            <a:ext cx="11185855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" y="2185415"/>
            <a:ext cx="1143000" cy="384048"/>
          </a:xfrm>
          <a:prstGeom prst="roundRect">
            <a:avLst>
              <a:gd name="adj" fmla="val 30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企业技能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0240" y="2139696"/>
            <a:ext cx="49377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自动评分引擎（确定性计算）</a:t>
            </a:r>
            <a:endParaRPr sz="11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9440" y="2139696"/>
            <a:ext cx="5074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assessmentScoringEngine.js：类别封顶合计、幂等查重、审计留痕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2798063"/>
            <a:ext cx="11185855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" y="2935223"/>
            <a:ext cx="1143000" cy="384048"/>
          </a:xfrm>
          <a:prstGeom prst="roundRect">
            <a:avLst>
              <a:gd name="adj" fmla="val 30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企业技能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2889503"/>
            <a:ext cx="49377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专项活动自动扣分（动态活动列识别）</a:t>
            </a:r>
            <a:endParaRPr sz="11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49440" y="2889503"/>
            <a:ext cx="5074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safetyCultureImport.js + safetyCultureAdapter.js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3547871"/>
            <a:ext cx="11185855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" y="3685031"/>
            <a:ext cx="1143000" cy="384048"/>
          </a:xfrm>
          <a:prstGeom prst="roundRect">
            <a:avLst>
              <a:gd name="adj" fmla="val 30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企业技能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20240" y="3639311"/>
            <a:ext cx="49377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培训台账 AI 识图（签到表 / 资料 OCR 成台账）</a:t>
            </a:r>
            <a:endParaRPr sz="11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49440" y="3639311"/>
            <a:ext cx="5074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trainingOcrService.js（本地视觉模型，图片与 PDF）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4297679"/>
            <a:ext cx="11185855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" y="4434840"/>
            <a:ext cx="1143000" cy="384048"/>
          </a:xfrm>
          <a:prstGeom prst="roundRect">
            <a:avLst>
              <a:gd name="adj" fmla="val 30000"/>
            </a:avLst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数字员工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20240" y="4389119"/>
            <a:ext cx="49377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考核门户编排（取数、按岗位分发口径、全流程引导）</a:t>
            </a:r>
            <a:endParaRPr sz="11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49440" y="4389119"/>
            <a:ext cx="5074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assessment-portal + 月度考核 42 个后端端点 / 12 个 service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5047488"/>
            <a:ext cx="11185855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6" y="5184648"/>
            <a:ext cx="1143000" cy="384048"/>
          </a:xfrm>
          <a:prstGeom prst="roundRect">
            <a:avLst>
              <a:gd name="adj" fmla="val 30000"/>
            </a:avLst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数字员工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20240" y="5138927"/>
            <a:ext cx="49377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H5 现场采集闭环（取证、行为库、整改任务流转）</a:t>
            </a:r>
            <a:endParaRPr sz="110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49440" y="5138927"/>
            <a:ext cx="5074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grid-mobile-cloudflare（Cloudflare 公网部署）</a:t>
            </a:r>
            <a:endParaRPr sz="9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2920" y="5870448"/>
            <a:ext cx="11185855" cy="4572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916168"/>
            <a:ext cx="10783519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结合方式：Agent 编排调用 Skill —— 门户只做聚合不复制业务计算，评分计算全部下沉规则库与引擎。</a:t>
            </a:r>
            <a:endParaRPr sz="105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09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CORE LOGIC · 核心代码逻辑</a:t>
            </a:r>
            <a:endParaRPr sz="11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扣分规则库 + 自动评分引擎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5440680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扣分规则库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5074920" cy="32461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三层数据模型：规则主表（类别 / 触发方式 / 扣分方式 / 状态）→ 子项（分值 / 单位）→ 触发条件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类别扣分上限独立表：类别 + 岗位双键（经理：安全文化 20 / HSE 教育 30 / 驾驶员 20 / 转运站 10 / 三违 15）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六维筛选 + 统计 + 详情三表联查；更新时整体替换子项（事务原子一致）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Excel / CSV 批量导入子项，自动识别表头、清洗分值字符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软删 / 启停 / 接入状态管理 —— 单一事实源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298448"/>
            <a:ext cx="5440680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自动评分引擎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55080" y="1938528"/>
            <a:ext cx="5074920" cy="914400"/>
          </a:xfrm>
          <a:prstGeom prst="roundRect">
            <a:avLst>
              <a:gd name="adj" fmla="val 45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score_auto = max(0, 100 − Σ各类别 min(该类有效扣分, 类别上限))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CC3FF"/>
                </a:solidFill>
                <a:latin typeface="微软雅黑" panose="020B0503020204020204" charset="-122"/>
                <a:ea typeface="微软雅黑" panose="020B0503020204020204" charset="-122"/>
              </a:rPr>
              <a:t>score_total = 人工 + 自动 + 加分　|　等级 A≥90 / B≥80 / C≥70 / D≥60 / E&lt;60</a:t>
            </a:r>
            <a:endParaRPr sz="950" b="0" i="0">
              <a:solidFill>
                <a:srgbClr val="9CC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2971800"/>
            <a:ext cx="5074920" cy="2240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四类扣分来源：auto 自动 / import 导入 / manual 人工 / chain 责任传导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规则命中优先级：员工精确绑定 &gt; 网格等级 &gt; 组织维度 &gt; 全体兜底，全程可追溯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幂等查重：按“来源表 + 来源 ID + 指标”防重复扣分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责任传导：直属上级一级 100% 传导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三违类合计与三违管理考核列表同源（六分量），只取一次不重复计数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5440680"/>
            <a:ext cx="11185855" cy="84124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532120"/>
            <a:ext cx="10783519" cy="6766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对考核的价值：六条线台账 → 各域自动扣分明细 → 引擎统一分数与等级 → 门户按岗位展示 → 扣分审核（人工确认）→ 结果冻结 —— 2026-10 周期 13 名考核对象真实评分验证通过。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10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SYSTEM AUDIT · 一二三级菜单与代码实测盘点</a:t>
            </a:r>
            <a:endParaRPr sz="11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本案例相关菜单全覆盖（2026-10-11 实测）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3639312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444752"/>
            <a:ext cx="2926080" cy="384048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目标职责 /objectives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" y="1956816"/>
            <a:ext cx="3346704" cy="3931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月度安全履职考核 › 月度考核门户（portal）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› 考核工作台（隐藏）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› 台账镜像 ×9（隐藏，同源联动）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› 考核周期 / 考核对象 / 自动评分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› 扣分审核 / 结果冻结 / Excel 导入导出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› 扣分规则库（可见）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安全文化建设（专项活动台帐导入）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目标责任书 / 安委会 / 安全费用（四级）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79392" y="1298448"/>
            <a:ext cx="3639312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5696" y="1444752"/>
            <a:ext cx="2926080" cy="384048"/>
          </a:xfrm>
          <a:prstGeom prst="roundRect">
            <a:avLst>
              <a:gd name="adj" fmla="val 25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现场管理 /site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25696" y="1956816"/>
            <a:ext cx="3346704" cy="3931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三违管理：候选 / 记录 / 分析 / 台账 / 管理考核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转运站管理（导入 / 续月 / 批量 / 导出）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网格管理：巡查管理 / 巡查台账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› 通道B待归属 / 已归属记录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驾驶员管理：考核 / 违章 / 月度考核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车辆三检（菜单隐藏，代码保留）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后端：site-mgmt / violations / transfer-stations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/ hse-violation-assessment / hse-grid-attribution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55863" y="1298448"/>
            <a:ext cx="3639312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02167" y="1444752"/>
            <a:ext cx="2926080" cy="384048"/>
          </a:xfrm>
          <a:prstGeom prst="roundRect">
            <a:avLst>
              <a:gd name="adj" fmla="val 25000"/>
            </a:avLst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HSE 教育培训 + H5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02167" y="1956816"/>
            <a:ext cx="3346704" cy="3931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培训计划 / 培训记录 / 证书管理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（考核管理、综合考核菜单隐藏）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培训记录：AI 识图导入、签到识别、月度汇总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后端：training/main.js 39 端点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手机端 H5（grid-mobile-cloudflare）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登录 / 工作台 / 巡查 / 三违 / 整改闭环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数据：多维表格主台账 17 列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2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月度考核后端：42 端点 / 12 service</a:t>
            </a:r>
            <a:endParaRPr sz="92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6126480"/>
            <a:ext cx="11185855" cy="29260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6135624"/>
            <a:ext cx="10783519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菜单源：前端静态路由 modules/*.ts（按权限过滤）；评分引擎 / 规则库 / 导入服务等代码路径详见报送文字稿第四章。</a:t>
            </a:r>
            <a:endParaRPr sz="90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11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DATA LINEAGE · 数据链路与边界</a:t>
            </a:r>
            <a:endParaRPr sz="11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单向架构：现场台账 → PostgreSQL → HSE 月度考核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05740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H5 现场提交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97480" y="1755648"/>
            <a:ext cx="320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4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44368" y="1417320"/>
            <a:ext cx="205740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多维表格主台账
（17 列结构化）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01768" y="1755648"/>
            <a:ext cx="320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4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248656" y="1417320"/>
            <a:ext cx="205740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FAA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系统台账通道
导入 / 单向 Pull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06056" y="1755648"/>
            <a:ext cx="320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AAD14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400" b="1" i="0">
              <a:solidFill>
                <a:srgbClr val="FAAD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552944" y="1417320"/>
            <a:ext cx="205740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208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PostgreSQL
系统巡查台账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10344" y="1755648"/>
            <a:ext cx="320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14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857232" y="1417320"/>
            <a:ext cx="205740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HSE 门户
月度考核同源取数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090672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架构铁律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5074920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单向不可逆：外部台账 → PostgreSQL → HSE，系统侧反向写入恒禁用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幂等防重：来源记录键唯一，重复同步不重复入库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外部台账删除 ⇏ 系统删除，历史只进不出、可追溯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72200" y="292608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3090672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现状注记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5080" y="3566160"/>
            <a:ext cx="5074920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H5 主台账（多维表格）经“台账批量导入 / 既有单向 Pull”通道汇入系统台账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生产实测：2026-08 的 1724 条经单向 Pull 入库；2026-09 的 1504 条经台账导入入库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自动同步通道扩展已列入下一步建设计划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5440680"/>
            <a:ext cx="11185855" cy="841248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532120"/>
            <a:ext cx="10783519" cy="6766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数据真实声明：本页链路与数量均为系统实测（2026-10-11 核对），未宣称未建成的自动同步能力；现场数据从采集到进考核全程不依赖微信群与人工抄写。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12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222D"/>
                </a:solidFill>
                <a:latin typeface="微软雅黑" panose="020B0503020204020204" charset="-122"/>
                <a:ea typeface="微软雅黑" panose="020B0503020204020204" charset="-122"/>
              </a:rPr>
              <a:t>IMPACT · 预期量化提效目标</a:t>
            </a:r>
            <a:endParaRPr sz="1100" b="1" i="0">
              <a:solidFill>
                <a:srgbClr val="F522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实测锚点 + 建议值（待按宁津实际复核）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121408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121408" cy="82296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847088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80~90%</a:t>
            </a:r>
            <a:endParaRPr sz="27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847088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现场照片处理提效</a:t>
            </a:r>
            <a:endParaRPr sz="11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847088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微信群 70 张/天逐张看 → 后台抽查 10~15 分钟/天</a:t>
            </a:r>
            <a:endParaRPr sz="90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61487" y="1325880"/>
            <a:ext cx="2121408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1487" y="1325880"/>
            <a:ext cx="2121408" cy="82296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7" y="1600200"/>
            <a:ext cx="1847088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30~75</a:t>
            </a:r>
            <a:endParaRPr sz="27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98647" y="2487168"/>
            <a:ext cx="1847088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合计节省工时（人·小时/月）</a:t>
            </a:r>
            <a:endParaRPr sz="11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8647" y="3200400"/>
            <a:ext cx="1847088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取中 50：照片处理 25~50 + 门户取数 8~25</a:t>
            </a:r>
            <a:endParaRPr sz="90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0055" y="1325880"/>
            <a:ext cx="2121408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0055" y="1325880"/>
            <a:ext cx="2121408" cy="82296"/>
          </a:xfrm>
          <a:prstGeom prst="rect">
            <a:avLst/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1600200"/>
            <a:ext cx="1847088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AAD14"/>
                </a:solidFill>
                <a:latin typeface="微软雅黑" panose="020B0503020204020204" charset="-122"/>
                <a:ea typeface="微软雅黑" panose="020B0503020204020204" charset="-122"/>
              </a:rPr>
              <a:t>60~80%</a:t>
            </a:r>
            <a:endParaRPr sz="2700" b="1" i="0">
              <a:solidFill>
                <a:srgbClr val="FAAD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57216" y="2487168"/>
            <a:ext cx="1847088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月度全流程效率提升</a:t>
            </a:r>
            <a:endParaRPr sz="11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57216" y="3200400"/>
            <a:ext cx="1847088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2~3 工作日 → 0.5~1 工作日</a:t>
            </a:r>
            <a:endParaRPr sz="90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278623" y="1325880"/>
            <a:ext cx="2121408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78623" y="1325880"/>
            <a:ext cx="2121408" cy="82296"/>
          </a:xfrm>
          <a:prstGeom prst="rect">
            <a:avLst/>
          </a:prstGeom>
          <a:solidFill>
            <a:srgbClr val="F5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5783" y="1600200"/>
            <a:ext cx="1847088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222D"/>
                </a:solidFill>
                <a:latin typeface="微软雅黑" panose="020B0503020204020204" charset="-122"/>
                <a:ea typeface="微软雅黑" panose="020B0503020204020204" charset="-122"/>
              </a:rPr>
              <a:t>2~5 万</a:t>
            </a:r>
            <a:endParaRPr sz="2700" b="1" i="0">
              <a:solidFill>
                <a:srgbClr val="F522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15783" y="2487168"/>
            <a:ext cx="1847088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成本节约（万元/年）</a:t>
            </a:r>
            <a:endParaRPr sz="11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15783" y="3200400"/>
            <a:ext cx="1847088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按节省工时折算人力，取中 3 万</a:t>
            </a:r>
            <a:endParaRPr sz="90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537192" y="1325880"/>
            <a:ext cx="2121408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37192" y="1325880"/>
            <a:ext cx="2121408" cy="822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1600200"/>
            <a:ext cx="1847088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13 条</a:t>
            </a:r>
            <a:endParaRPr sz="27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74352" y="2487168"/>
            <a:ext cx="1847088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扣分规则自动传导</a:t>
            </a:r>
            <a:endParaRPr sz="11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74352" y="3200400"/>
            <a:ext cx="1847088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active 规则含专项活动未开展，人工只做审核</a:t>
            </a:r>
            <a:endParaRPr sz="90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2920" y="4572000"/>
            <a:ext cx="11185855" cy="16459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81728"/>
            <a:ext cx="10728655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实测锚点（系统事实 / 用户提供）</a:t>
            </a: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原微信群每天约 70 张照片，逐张查看约 1~2 分钟/张（用户提供）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扣分规则库 active 13 条；2026-10 考核周期 13 名对象真实评分结果（系统截图）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网格长巡查台账 2026-09 共 3228 条；培训 2026-08 月度汇总 10 人真实数据（系统截图）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建议估算值已标注「待按宁津实际复核」，不作定性夸大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13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EVIDENCE · 可信证据</a:t>
            </a:r>
            <a:endParaRPr sz="11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全部为生产系统真实截图与实测数据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269748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ining_records_2026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42" y="1298448"/>
            <a:ext cx="1739834" cy="1737360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502920" y="3054096"/>
            <a:ext cx="269748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培训 · 2026-08（10 人）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37560" y="1298448"/>
            <a:ext cx="269748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olation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382" y="1298448"/>
            <a:ext cx="1739834" cy="1737360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3337560" y="3054096"/>
            <a:ext cx="269748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三违考核 · 2026-10（7 名经理）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1298448"/>
            <a:ext cx="269748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id_led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022" y="1298448"/>
            <a:ext cx="1739834" cy="173736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172200" y="3054096"/>
            <a:ext cx="269748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网格台账 · 2026-09（3228 条）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006840" y="1298448"/>
            <a:ext cx="2697480" cy="1737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river_month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662" y="1298448"/>
            <a:ext cx="1739834" cy="1737360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9006840" y="3054096"/>
            <a:ext cx="269748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驾驶员月度考核 · 2026-10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3310128"/>
            <a:ext cx="416052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3-门户-台账镜像入口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692" y="3310128"/>
            <a:ext cx="2808975" cy="2377439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502920" y="5705856"/>
            <a:ext cx="416052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门户 · 9 个台账镜像入口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846320" y="3310128"/>
            <a:ext cx="416052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5-自动评分-顶部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092" y="3310128"/>
            <a:ext cx="2808975" cy="2377439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4846320" y="5705856"/>
            <a:ext cx="416052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自动评分 · 真实评分结果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235440" y="3310128"/>
            <a:ext cx="2468880" cy="237744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3438144"/>
            <a:ext cx="2194560" cy="2194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证据类型</a:t>
            </a:r>
            <a:r>
              <a:rPr sz="9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系统真实截图（9+4 张）</a:t>
            </a:r>
            <a:endParaRPr sz="9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实测数据锚点</a:t>
            </a:r>
            <a:endParaRPr sz="9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13 条真实评分结果</a:t>
            </a:r>
            <a:endParaRPr sz="9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H5 真实操作截图</a:t>
            </a:r>
            <a:endParaRPr sz="9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5 个演示视频</a:t>
            </a:r>
            <a:endParaRPr sz="9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验收与交付记录</a:t>
            </a:r>
            <a:endParaRPr sz="9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14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DEMO VIDEO · 演示视频</a:t>
            </a:r>
            <a:endParaRPr sz="11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总览片 + 四模块解说视频（模块页已内嵌）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52360" y="1371600"/>
            <a:ext cx="4142232" cy="37764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517904"/>
            <a:ext cx="3794760" cy="3566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视频清单</a:t>
            </a: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总览片（1′38″）：H5 现场闭环 + PC 门户 + 自动评分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培训管理解说（42s）→ 第 5 页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三违 + 网格解说（52s）→ 第 6 页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驾驶员管理解说（40s）→ 第 7 页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月度考核解说（50s）→ 第 8 页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300"/>
              </a:spcAft>
            </a:pPr>
            <a:r>
              <a:rPr sz="90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制作：1280×720 生产真实截图 + 字幕 + 中文配音</a:t>
            </a:r>
            <a:endParaRPr sz="90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5394960"/>
            <a:ext cx="11185855" cy="868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5486400"/>
            <a:ext cx="10783519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观看方式：PPT 放映时点击视频区域播放；视频已随文件内嵌，无外部依赖。各模块页的视频区即为该模块解说视频，与截图证据一一对应。</a:t>
            </a:r>
            <a:endParaRPr sz="1050" b="1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15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VIDSLOT_P15_MEDIA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02920" y="1371600"/>
            <a:ext cx="6720840" cy="3776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56692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56032"/>
            <a:ext cx="1060704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REUSE · 成果复用价值</a:t>
            </a:r>
            <a:endParaRPr sz="11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512064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跨岗位 · 跨条线 · 跨组织，可复制推广</a:t>
            </a:r>
            <a:endParaRPr sz="2300" b="1" i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5855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11185855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73152" cy="84124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08176"/>
            <a:ext cx="1463040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2C41A"/>
                </a:solidFill>
                <a:latin typeface="微软雅黑" panose="020B0503020204020204" charset="-122"/>
                <a:ea typeface="微软雅黑" panose="020B0503020204020204" charset="-122"/>
              </a:rPr>
              <a:t>跨岗位</a:t>
            </a:r>
            <a:endParaRPr sz="1400" b="1" i="0">
              <a:solidFill>
                <a:srgbClr val="52C4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0" y="1408176"/>
            <a:ext cx="9174175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乡镇作业中心经理 / 管理员 / 网格长 / 驾驶员 / 安全员 —— 门户按岗位 Tab 切扣分口径，H5 按角色分流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249424"/>
            <a:ext cx="11185855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49424"/>
            <a:ext cx="73152" cy="841248"/>
          </a:xfrm>
          <a:prstGeom prst="rect">
            <a:avLst/>
          </a:prstGeom>
          <a:solidFill>
            <a:srgbClr val="208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359152"/>
            <a:ext cx="1463040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80F0"/>
                </a:solidFill>
                <a:latin typeface="微软雅黑" panose="020B0503020204020204" charset="-122"/>
                <a:ea typeface="微软雅黑" panose="020B0503020204020204" charset="-122"/>
              </a:rPr>
              <a:t>跨条线</a:t>
            </a:r>
            <a:endParaRPr sz="1400" b="1" i="0">
              <a:solidFill>
                <a:srgbClr val="208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0" y="2359152"/>
            <a:ext cx="9174175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培训、专项活动、驾驶员、转运站、三违、网格巡查 6 条线统一考核口径（规则库单一事实源 + 评分引擎）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11185855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00400"/>
            <a:ext cx="73152" cy="841248"/>
          </a:xfrm>
          <a:prstGeom prst="rect">
            <a:avLst/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10128"/>
            <a:ext cx="1463040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AAD14"/>
                </a:solidFill>
                <a:latin typeface="微软雅黑" panose="020B0503020204020204" charset="-122"/>
                <a:ea typeface="微软雅黑" panose="020B0503020204020204" charset="-122"/>
              </a:rPr>
              <a:t>跨组织</a:t>
            </a:r>
            <a:endParaRPr sz="1400" b="1" i="0">
              <a:solidFill>
                <a:srgbClr val="FAAD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86000" y="3310128"/>
            <a:ext cx="9174175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标准架构（外部台账 → PostgreSQL → HSE 单向）+ 规则 / 台账结构可整体复制到其他县区、分子公司</a:t>
            </a:r>
            <a:endParaRPr sz="105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4224528"/>
            <a:ext cx="5440680" cy="14173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334256"/>
            <a:ext cx="5074920" cy="1234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复用条件</a:t>
            </a: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扣分规则库配置、考核周期 / 对象初始化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台账表结构 + H5 域名部署与授权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72200" y="4224528"/>
            <a:ext cx="5440680" cy="14173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334256"/>
            <a:ext cx="5074920" cy="1234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</a:rPr>
              <a:t>推广路径</a:t>
            </a: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门户 + 镜像路由代码包 → 配置类别上限与规则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</a:rPr>
              <a:t>• 导入专项活动台账模板 → H5 域名部署 → 按本案例流程验收</a:t>
            </a:r>
            <a:endParaRPr sz="1000" b="0" i="0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45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70448"/>
            <a:ext cx="10783519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 月度安全履职考核门户　|　重复性高、频次高、提效显著　|　恳请审议</a:t>
            </a:r>
            <a:endParaRPr sz="11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6455664"/>
            <a:ext cx="11185855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宁津项目 ·「月度安全履职考核门户」案例报送（手机端 H5 现场采集 + PC 门户自动评分）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591495" y="6492240"/>
            <a:ext cx="1097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</a:rPr>
              <a:t>16 / 16</a:t>
            </a:r>
            <a:endParaRPr sz="850" b="0" i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6895</Words>
  <Application>WPS 演示</Application>
  <PresentationFormat>On-screen Show (4:3)</PresentationFormat>
  <Paragraphs>564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随遇而安</cp:lastModifiedBy>
  <cp:revision>2</cp:revision>
  <dcterms:created xsi:type="dcterms:W3CDTF">2013-01-27T09:14:00Z</dcterms:created>
  <dcterms:modified xsi:type="dcterms:W3CDTF">2026-10-11T09:14:12Z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F7C8360278B94AB7AF4D772285A853B7_12</vt:lpwstr>
  </property>
  <property fmtid="{D5CDD505-2E9C-101B-9397-08002B2CF9AE}" pid="3" name="KSOProductBuildVer">
    <vt:lpwstr>2052-12.1.0.26895</vt:lpwstr>
  </property>
</Properties>
</file>